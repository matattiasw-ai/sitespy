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6928"/>
            <a:ext cx="1005840" cy="1005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1828800"/>
            <a:ext cx="8961120" cy="731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SiteSpy System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606040"/>
            <a:ext cx="73152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Client Demonstration and Technical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54680"/>
            <a:ext cx="73152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Prepared for the Group 2 student/client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520440"/>
            <a:ext cx="365760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200" b="0">
                <a:solidFill>
                  <a:srgbClr val="FFFFFF"/>
                </a:solidFill>
              </a:rPr>
              <a:t>7 June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234440"/>
            <a:ext cx="3749039" cy="31089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234440"/>
            <a:ext cx="64008" cy="3108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27264" y="1344168"/>
            <a:ext cx="3493007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08111F"/>
                </a:solidFill>
              </a:rPr>
              <a:t>System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1673352"/>
            <a:ext cx="3493007" cy="26060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4B5563"/>
                </a:solidFill>
              </a:rPr>
              <a:t>Expo React Native Android app for masonry wall project estimation, Firebase-backed records, and documented student collaboration.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0972800" cy="21945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</a:rPr>
              <a:t>SiteSpy Client Presentation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932688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08111F"/>
                </a:solidFill>
              </a:rPr>
              <a:t>Problem Statement</a:t>
            </a:r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84048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43000"/>
            <a:ext cx="566928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11827"/>
                </a:solidFill>
              </a:defRPr>
            </a:pPr>
            <a:r>
              <a:t>? Small masonry projects need repeatable wall estimates instead of manual spreadsheet-style work.</a:t>
            </a:r>
          </a:p>
          <a:p>
            <a:pPr>
              <a:spcAft>
                <a:spcPts val="500"/>
              </a:spcAft>
              <a:defRPr sz="1500">
                <a:solidFill>
                  <a:srgbClr val="111827"/>
                </a:solidFill>
              </a:defRPr>
            </a:pPr>
            <a:r>
              <a:t>? Students need a mobile-first app that can be demonstrated clearly on Android.</a:t>
            </a:r>
          </a:p>
          <a:p>
            <a:pPr>
              <a:spcAft>
                <a:spcPts val="500"/>
              </a:spcAft>
              <a:defRPr sz="1500">
                <a:solidFill>
                  <a:srgbClr val="111827"/>
                </a:solidFill>
              </a:defRPr>
            </a:pPr>
            <a:r>
              <a:t>? Project records, wall images, estimates, and BOQ summaries must stay linked to the correct signed-in user.</a:t>
            </a:r>
          </a:p>
          <a:p>
            <a:pPr>
              <a:spcAft>
                <a:spcPts val="500"/>
              </a:spcAft>
              <a:defRPr sz="1500">
                <a:solidFill>
                  <a:srgbClr val="111827"/>
                </a:solidFill>
              </a:defRPr>
            </a:pPr>
            <a:r>
              <a:t>? Collaborator GitHub identities and branches need to be organized for handoff and continued work.</a:t>
            </a:r>
          </a:p>
          <a:p>
            <a:pPr>
              <a:spcAft>
                <a:spcPts val="500"/>
              </a:spcAft>
              <a:defRPr sz="1500">
                <a:solidFill>
                  <a:srgbClr val="111827"/>
                </a:solidFill>
              </a:defRPr>
            </a:pPr>
            <a:r>
              <a:t>? Presenters need simple language backed by real code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1234440"/>
            <a:ext cx="4480560" cy="18288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12280" y="1234440"/>
            <a:ext cx="64008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58584" y="1344168"/>
            <a:ext cx="4224528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08111F"/>
                </a:solidFill>
              </a:rPr>
              <a:t>Accuracy Boundary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8584" y="1673352"/>
            <a:ext cx="4224528" cy="1325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4B5563"/>
                </a:solidFill>
              </a:rPr>
              <a:t>The repo contains the SiteSpy mobile estimation app and collaborator documentation. It does not contain standalone per-student portfolio folders.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3383280"/>
            <a:ext cx="4480560" cy="16002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12280" y="3383280"/>
            <a:ext cx="64008" cy="1600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58584" y="3493008"/>
            <a:ext cx="4224528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08111F"/>
                </a:solidFill>
              </a:rPr>
              <a:t>Client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8584" y="3822191"/>
            <a:ext cx="4224528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4B5563"/>
                </a:solidFill>
              </a:rPr>
              <a:t>A clearer app demo, safer contributor mapping, and a technical story the team can defend.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10972800" cy="21945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</a:rPr>
              <a:t>SiteSpy Client Presentation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932688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08111F"/>
                </a:solidFill>
              </a:rPr>
              <a:t>Project Objectives</a:t>
            </a:r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84048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15568"/>
            <a:ext cx="10698480" cy="5029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11827"/>
                </a:solidFill>
              </a:defRPr>
            </a:pPr>
            <a:r>
              <a:t>? Build a mobile-first Android app using Expo and React Native.</a:t>
            </a:r>
          </a:p>
          <a:p>
            <a:pPr>
              <a:spcAft>
                <a:spcPts val="500"/>
              </a:spcAft>
              <a:defRPr sz="1500">
                <a:solidFill>
                  <a:srgbClr val="111827"/>
                </a:solidFill>
              </a:defRPr>
            </a:pPr>
            <a:r>
              <a:t>? Use Firebase Authentication for account creation, login, password reset, and passwordless email-link sign-in.</a:t>
            </a:r>
          </a:p>
          <a:p>
            <a:pPr>
              <a:spcAft>
                <a:spcPts val="500"/>
              </a:spcAft>
              <a:defRPr sz="1500">
                <a:solidFill>
                  <a:srgbClr val="111827"/>
                </a:solidFill>
              </a:defRPr>
            </a:pPr>
            <a:r>
              <a:t>? Store user-owned projects, estimates, and wall-image records in Firebase.</a:t>
            </a:r>
          </a:p>
          <a:p>
            <a:pPr>
              <a:spcAft>
                <a:spcPts val="500"/>
              </a:spcAft>
              <a:defRPr sz="1500">
                <a:solidFill>
                  <a:srgbClr val="111827"/>
                </a:solidFill>
              </a:defRPr>
            </a:pPr>
            <a:r>
              <a:t>? Calculate wall area, masonry units, mortar allowance, material cost, labour cost, waste factor, and total cost.</a:t>
            </a:r>
          </a:p>
          <a:p>
            <a:pPr>
              <a:spcAft>
                <a:spcPts val="500"/>
              </a:spcAft>
              <a:defRPr sz="1500">
                <a:solidFill>
                  <a:srgbClr val="111827"/>
                </a:solidFill>
              </a:defRPr>
            </a:pPr>
            <a:r>
              <a:t>? Document contributor tasks, branches, GitHub identities, Firebase setup, testing, and final submission steps.</a:t>
            </a:r>
          </a:p>
          <a:p>
            <a:pPr>
              <a:spcAft>
                <a:spcPts val="500"/>
              </a:spcAft>
              <a:defRPr sz="1500">
                <a:solidFill>
                  <a:srgbClr val="111827"/>
                </a:solidFill>
              </a:defRPr>
            </a:pPr>
            <a:r>
              <a:t>? Prepare students to continue from their assigned branches using their own Git identities.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0972800" cy="21945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</a:rPr>
              <a:t>SiteSpy Client Presentation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932688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08111F"/>
                </a:solidFill>
              </a:rPr>
              <a:t>Basic Programming Concepts Used</a:t>
            </a:r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84048"/>
            <a:ext cx="685800" cy="685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8368" y="1225296"/>
            <a:ext cx="3429000" cy="14173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225296"/>
            <a:ext cx="64008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35024"/>
            <a:ext cx="3172968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08111F"/>
                </a:solidFill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664208"/>
            <a:ext cx="3172968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4B5563"/>
                </a:solidFill>
              </a:rPr>
              <a:t>Visible mobile app that users tap and read.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8848" y="1225296"/>
            <a:ext cx="3429000" cy="14173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98848" y="1225296"/>
            <a:ext cx="64008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335024"/>
            <a:ext cx="3172968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08111F"/>
                </a:solidFill>
              </a:rPr>
              <a:t>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1664208"/>
            <a:ext cx="3172968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4B5563"/>
                </a:solidFill>
              </a:rPr>
              <a:t>Reusable blocks: buttons, cards, headers, inputs.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39328" y="1225296"/>
            <a:ext cx="3429000" cy="14173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39328" y="1225296"/>
            <a:ext cx="64008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1335024"/>
            <a:ext cx="3172968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08111F"/>
                </a:solidFill>
              </a:rPr>
              <a:t>Screens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1664208"/>
            <a:ext cx="3172968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4B5563"/>
                </a:solidFill>
              </a:rPr>
              <a:t>Full views: Login, Dashboard, Manual Estimate, Profile.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145536"/>
            <a:ext cx="3429000" cy="14173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145536"/>
            <a:ext cx="64008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255264"/>
            <a:ext cx="3172968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08111F"/>
                </a:solidFill>
              </a:rPr>
              <a:t>State/data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584448"/>
            <a:ext cx="3172968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4B5563"/>
                </a:solidFill>
              </a:rPr>
              <a:t>Current user, forms, projects, estimates, images.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98848" y="3145536"/>
            <a:ext cx="3429000" cy="14173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98848" y="3145536"/>
            <a:ext cx="64008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5152" y="3255264"/>
            <a:ext cx="3172968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08111F"/>
                </a:solidFill>
              </a:rPr>
              <a:t>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3584448"/>
            <a:ext cx="3172968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4B5563"/>
                </a:solidFill>
              </a:rPr>
              <a:t>Modules that talk to Firebase or run workflows.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39328" y="3145536"/>
            <a:ext cx="3429000" cy="14173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39328" y="3145536"/>
            <a:ext cx="64008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85632" y="3255264"/>
            <a:ext cx="3172968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08111F"/>
                </a:solidFill>
              </a:rPr>
              <a:t>Configuration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3584448"/>
            <a:ext cx="3172968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4B5563"/>
                </a:solidFill>
              </a:rPr>
              <a:t>Files that define identity, rules, builds, and environment.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257800"/>
            <a:ext cx="1060704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600" b="1">
                <a:solidFill>
                  <a:srgbClr val="08111F"/>
                </a:solidFill>
              </a:rPr>
              <a:t>Analogy: screens are rooms, components are furniture, services are utilities behind the walls, and configuration files are the building plan.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10972800" cy="21945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</a:rPr>
              <a:t>SiteSpy Client Presentation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932688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08111F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9326880" cy="3017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250" b="0">
                <a:solidFill>
                  <a:srgbClr val="4B5563"/>
                </a:solidFill>
              </a:rPr>
              <a:t>Only technologies found in the repository are listed.</a:t>
            </a:r>
          </a:p>
        </p:txBody>
      </p:sp>
      <p:pic>
        <p:nvPicPr>
          <p:cNvPr id="5" name="Picture 4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84048"/>
            <a:ext cx="685800" cy="6858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143000"/>
          <a:ext cx="1083564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7820"/>
                <a:gridCol w="5417820"/>
              </a:tblGrid>
              <a:tr h="51663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 marL="36576" marR="36576" marT="27432" marB="27432">
                    <a:solidFill>
                      <a:srgbClr val="0811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What it does</a:t>
                      </a:r>
                    </a:p>
                  </a:txBody>
                  <a:tcPr marL="36576" marR="36576" marT="27432" marB="27432">
                    <a:solidFill>
                      <a:srgbClr val="08111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t>Expo Managed Workflow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t>Runs and builds the React Native app.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t>React Native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t>Mobile app framework for Android portrait use.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t>JavaScript / JSX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t>Main code and UI syntax.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t>React Navigation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t>Auth stack, bottom tabs, project/profile stacks.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t>Firebase JS SDK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t>Backend integration from the app.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t>Firebase Auth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t>Email/password, reset, and email-link sign-in.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t>Cloud Firestore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t>Stores users, projects, estimations, wallImages.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t>Firebase Storage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t>Optional storage-first upload path for wall images.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t>EAS Build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</a:defRPr>
                      </a:pPr>
                      <a:r>
                        <a:t>Android APK preview and production bundle config.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73952"/>
            <a:ext cx="10972800" cy="21945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</a:rPr>
              <a:t>SiteSpy Client Presentation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932688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08111F"/>
                </a:solidFill>
              </a:rPr>
              <a:t>High-Level Architecture</a:t>
            </a:r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84048"/>
            <a:ext cx="685800" cy="685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" y="1828800"/>
            <a:ext cx="1417320" cy="64008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Android 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91440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08111F"/>
          </a:solidFill>
          <a:ln>
            <a:solidFill>
              <a:srgbClr val="081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Expo React Native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2148840"/>
            <a:ext cx="2057400" cy="77724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Navigation
Auth + Tabs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9144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Screens
Dashboard, Projects, New, Profile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242316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Shared Components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417320"/>
            <a:ext cx="1828800" cy="713232"/>
          </a:xfrm>
          <a:prstGeom prst="roundRect">
            <a:avLst>
              <a:gd name="adj" fmla="val 8000"/>
            </a:avLst>
          </a:prstGeom>
          <a:solidFill>
            <a:srgbClr val="08111F"/>
          </a:solidFill>
          <a:ln>
            <a:solidFill>
              <a:srgbClr val="081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Services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822960"/>
            <a:ext cx="1691640" cy="59436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Firebase Auth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1828800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Firestore
users/projects/estimations/wallImages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324612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Storage
wall images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288036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11827"/>
                </a:solidFill>
              </a:rPr>
              <a:t>Calculation Utils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47548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11827"/>
                </a:solidFill>
              </a:rPr>
              <a:t>Config + Rules + EAS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4754880"/>
            <a:ext cx="2834640" cy="6858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GitHub Branches + Collaborator Docs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011680" y="2148840"/>
            <a:ext cx="411480" cy="0"/>
          </a:xfrm>
          <a:prstGeom prst="line">
            <a:avLst/>
          </a:prstGeom>
          <a:ln w="1778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56432" y="1600200"/>
            <a:ext cx="0" cy="548640"/>
          </a:xfrm>
          <a:prstGeom prst="line">
            <a:avLst/>
          </a:prstGeom>
          <a:ln w="1778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480560" y="1298448"/>
            <a:ext cx="502920" cy="0"/>
          </a:xfrm>
          <a:prstGeom prst="line">
            <a:avLst/>
          </a:prstGeom>
          <a:ln w="1778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315200" y="1417320"/>
            <a:ext cx="594360" cy="246888"/>
          </a:xfrm>
          <a:prstGeom prst="line">
            <a:avLst/>
          </a:prstGeom>
          <a:ln w="1778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738360" y="1115568"/>
            <a:ext cx="320040" cy="548640"/>
          </a:xfrm>
          <a:prstGeom prst="line">
            <a:avLst/>
          </a:prstGeom>
          <a:ln w="1778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738360" y="1755648"/>
            <a:ext cx="320040" cy="548640"/>
          </a:xfrm>
          <a:prstGeom prst="line">
            <a:avLst/>
          </a:prstGeom>
          <a:ln w="1778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738360" y="1847088"/>
            <a:ext cx="320040" cy="1737360"/>
          </a:xfrm>
          <a:prstGeom prst="line">
            <a:avLst/>
          </a:prstGeom>
          <a:ln w="1778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823960" y="2130552"/>
            <a:ext cx="0" cy="749808"/>
          </a:xfrm>
          <a:prstGeom prst="line">
            <a:avLst/>
          </a:prstGeom>
          <a:ln w="1778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090672" y="2926080"/>
            <a:ext cx="365760" cy="1828800"/>
          </a:xfrm>
          <a:prstGeom prst="line">
            <a:avLst/>
          </a:prstGeom>
          <a:ln w="1778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6172200" y="3108960"/>
            <a:ext cx="137160" cy="1645920"/>
          </a:xfrm>
          <a:prstGeom prst="line">
            <a:avLst/>
          </a:prstGeom>
          <a:ln w="1778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77240" y="5806440"/>
            <a:ext cx="10972800" cy="32918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250" b="0">
                <a:solidFill>
                  <a:srgbClr val="4B5563"/>
                </a:solidFill>
              </a:rPr>
              <a:t>Users interact with screens. Screens reuse components and call services. Services handle Firebase, images, and calculations.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10972800" cy="21945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</a:rPr>
              <a:t>SiteSpy Client Presentation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932688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08111F"/>
                </a:solidFill>
              </a:rPr>
              <a:t>Folder / Codebase Structure</a:t>
            </a:r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84048"/>
            <a:ext cx="685800" cy="6858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060704"/>
          <a:ext cx="110642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21208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Path</a:t>
                      </a:r>
                    </a:p>
                  </a:txBody>
                  <a:tcPr marL="36576" marR="36576" marT="27432" marB="27432">
                    <a:solidFill>
                      <a:srgbClr val="0811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 marL="36576" marR="36576" marT="27432" marB="27432">
                    <a:solidFill>
                      <a:srgbClr val="08111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</a:defRPr>
                      </a:pPr>
                      <a:r>
                        <a:t>src/navigation/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</a:defRPr>
                      </a:pPr>
                      <a:r>
                        <a:t>Auth stack, app tabs, project stack, profile stack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</a:defRPr>
                      </a:pPr>
                      <a:r>
                        <a:t>src/screens/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</a:defRPr>
                      </a:pPr>
                      <a:r>
                        <a:t>Login, dashboard, project, estimate, image, profile, settings screens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</a:defRPr>
                      </a:pPr>
                      <a:r>
                        <a:t>src/components/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</a:defRPr>
                      </a:pPr>
                      <a:r>
                        <a:t>Shared UI components and loading/error/empty states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</a:defRPr>
                      </a:pPr>
                      <a:r>
                        <a:t>src/services/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</a:defRPr>
                      </a:pPr>
                      <a:r>
                        <a:t>Firebase auth, project CRUD, storage, runtime config, reports, estimates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</a:defRPr>
                      </a:pPr>
                      <a:r>
                        <a:t>src/utils/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</a:defRPr>
                      </a:pPr>
                      <a:r>
                        <a:t>Calculations, constants, validators, formatters, image helpers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</a:defRPr>
                      </a:pPr>
                      <a:r>
                        <a:t>docs/collaborators/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</a:defRPr>
                      </a:pPr>
                      <a:r>
                        <a:t>Collaborator list, tasks, ownership, Git workflow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</a:defRPr>
                      </a:pPr>
                      <a:r>
                        <a:t>assets/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</a:defRPr>
                      </a:pPr>
                      <a:r>
                        <a:t>App icon, splash, logo, social preview, portfolio banner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</a:defRPr>
                      </a:pPr>
                      <a:r>
                        <a:t>functions/ and hosting/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</a:defRPr>
                      </a:pPr>
                      <a:r>
                        <a:t>Optional Firebase Functions scaffold and static support page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</a:defRPr>
                      </a:pPr>
                      <a:r>
                        <a:t>Firebase/config files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</a:defRPr>
                      </a:pPr>
                      <a:r>
                        <a:t>firebase.json, firestore.rules, storage.rules, app config, EAS config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73952"/>
            <a:ext cx="10972800" cy="21945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</a:rPr>
              <a:t>SiteSpy Client Presentation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932688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08111F"/>
                </a:solidFill>
              </a:rPr>
              <a:t>How the App Works - User Flow</a:t>
            </a:r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84048"/>
            <a:ext cx="685800" cy="685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234440"/>
            <a:ext cx="1783080" cy="713232"/>
          </a:xfrm>
          <a:prstGeom prst="roundRect">
            <a:avLst>
              <a:gd name="adj" fmla="val 8000"/>
            </a:avLst>
          </a:prstGeom>
          <a:solidFill>
            <a:srgbClr val="08111F"/>
          </a:solidFill>
          <a:ln>
            <a:solidFill>
              <a:srgbClr val="081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80" b="1">
                <a:solidFill>
                  <a:srgbClr val="FFFFFF"/>
                </a:solidFill>
              </a:rPr>
              <a:t>Splash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50008" y="1591056"/>
            <a:ext cx="484632" cy="0"/>
          </a:xfrm>
          <a:prstGeom prst="line">
            <a:avLst/>
          </a:prstGeom>
          <a:ln w="1524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34640" y="1234440"/>
            <a:ext cx="1783080" cy="71323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80" b="1">
                <a:solidFill>
                  <a:srgbClr val="FFFFFF"/>
                </a:solidFill>
              </a:rPr>
              <a:t>Auth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617720" y="1591056"/>
            <a:ext cx="484632" cy="0"/>
          </a:xfrm>
          <a:prstGeom prst="line">
            <a:avLst/>
          </a:prstGeom>
          <a:ln w="1524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02352" y="1234440"/>
            <a:ext cx="1783080" cy="71323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80" b="1">
                <a:solidFill>
                  <a:srgbClr val="FFFFFF"/>
                </a:solidFill>
              </a:rPr>
              <a:t>Dashboard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85432" y="1591056"/>
            <a:ext cx="484632" cy="0"/>
          </a:xfrm>
          <a:prstGeom prst="line">
            <a:avLst/>
          </a:prstGeom>
          <a:ln w="1524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70063" y="1234440"/>
            <a:ext cx="1783080" cy="71323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80" b="1">
                <a:solidFill>
                  <a:srgbClr val="FFFFFF"/>
                </a:solidFill>
              </a:rPr>
              <a:t>Projects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53143" y="1591056"/>
            <a:ext cx="484633" cy="0"/>
          </a:xfrm>
          <a:prstGeom prst="line">
            <a:avLst/>
          </a:prstGeom>
          <a:ln w="1524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37776" y="1234440"/>
            <a:ext cx="1783080" cy="71323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80" b="1">
                <a:solidFill>
                  <a:srgbClr val="FFFFFF"/>
                </a:solidFill>
              </a:rPr>
              <a:t>New Project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08960"/>
            <a:ext cx="1783080" cy="713232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80" b="1">
                <a:solidFill>
                  <a:srgbClr val="FFFFFF"/>
                </a:solidFill>
              </a:rPr>
              <a:t>Manual Estimate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50008" y="3465576"/>
            <a:ext cx="484632" cy="0"/>
          </a:xfrm>
          <a:prstGeom prst="line">
            <a:avLst/>
          </a:prstGeom>
          <a:ln w="1524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834640" y="3108960"/>
            <a:ext cx="1783080" cy="713232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80" b="1">
                <a:solidFill>
                  <a:srgbClr val="FFFFFF"/>
                </a:solidFill>
              </a:rPr>
              <a:t>Summary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7720" y="3465576"/>
            <a:ext cx="484632" cy="0"/>
          </a:xfrm>
          <a:prstGeom prst="line">
            <a:avLst/>
          </a:prstGeom>
          <a:ln w="1524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02352" y="3108960"/>
            <a:ext cx="1783080" cy="713232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80" b="1">
                <a:solidFill>
                  <a:srgbClr val="FFFFFF"/>
                </a:solidFill>
              </a:rPr>
              <a:t>Image Estimate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85432" y="3465576"/>
            <a:ext cx="484632" cy="0"/>
          </a:xfrm>
          <a:prstGeom prst="line">
            <a:avLst/>
          </a:prstGeom>
          <a:ln w="1524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70063" y="3108960"/>
            <a:ext cx="1783080" cy="713232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80" b="1">
                <a:solidFill>
                  <a:srgbClr val="FFFFFF"/>
                </a:solidFill>
              </a:rPr>
              <a:t>Profile/Settings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17720"/>
            <a:ext cx="10698480" cy="12618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11827"/>
                </a:solidFill>
              </a:defRPr>
            </a:pPr>
            <a:r>
              <a:t>? Signed-out users see Login, Register, or Forgot Password; signed-in users go to bottom tabs.</a:t>
            </a:r>
          </a:p>
          <a:p>
            <a:pPr>
              <a:spcAft>
                <a:spcPts val="500"/>
              </a:spcAft>
              <a:defRPr sz="1250">
                <a:solidFill>
                  <a:srgbClr val="111827"/>
                </a:solidFill>
              </a:defRPr>
            </a:pPr>
            <a:r>
              <a:t>? Projects hold estimates and wall-image records; estimates produce BOQ-style line items.</a:t>
            </a:r>
          </a:p>
          <a:p>
            <a:pPr>
              <a:spcAft>
                <a:spcPts val="500"/>
              </a:spcAft>
              <a:defRPr sz="1250">
                <a:solidFill>
                  <a:srgbClr val="111827"/>
                </a:solidFill>
              </a:defRPr>
            </a:pPr>
            <a:r>
              <a:t>? Profile and Settings expose account details, preferences, Android target information, and logout.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10972800" cy="21945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</a:rPr>
              <a:t>SiteSpy Client Presentation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932688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08111F"/>
                </a:solidFill>
              </a:rPr>
              <a:t>Collaborator Matching System</a:t>
            </a:r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84048"/>
            <a:ext cx="685800" cy="685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1143000"/>
            <a:ext cx="3429000" cy="15087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64008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252728"/>
            <a:ext cx="3172968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08111F"/>
                </a:solidFill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1581912"/>
            <a:ext cx="3172968" cy="10058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4B5563"/>
                </a:solidFill>
              </a:rPr>
              <a:t>Keep names, GitHub usernames, emails, departments, tasks, and branch ownership organized.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143000"/>
            <a:ext cx="3429000" cy="15087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143000"/>
            <a:ext cx="64008" cy="1508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1252728"/>
            <a:ext cx="3172968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08111F"/>
                </a:solidFill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1581912"/>
            <a:ext cx="3172968" cy="10058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4B5563"/>
                </a:solidFill>
              </a:rPr>
              <a:t>Correct Git identity helps students push to the correct branch and avoids handoff confusion.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143000"/>
            <a:ext cx="3429000" cy="15087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143000"/>
            <a:ext cx="64008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1252728"/>
            <a:ext cx="3172968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08111F"/>
                </a:solidFill>
              </a:rPr>
              <a:t>Safety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1581912"/>
            <a:ext cx="3172968" cy="10058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4B5563"/>
                </a:solidFill>
              </a:rPr>
              <a:t>Passwords and PATs are redacted and must not be committed or presented.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63240"/>
            <a:ext cx="10789920" cy="2011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11827"/>
                </a:solidFill>
              </a:defRPr>
            </a:pPr>
            <a:r>
              <a:t>? Files used: docs/Collaborators.json, collaborators-sanitized.md, task-allocation.md, git-workflow.md.</a:t>
            </a:r>
          </a:p>
          <a:p>
            <a:pPr>
              <a:spcAft>
                <a:spcPts val="500"/>
              </a:spcAft>
              <a:defRPr sz="1400">
                <a:solidFill>
                  <a:srgbClr val="111827"/>
                </a:solidFill>
              </a:defRPr>
            </a:pPr>
            <a:r>
              <a:t>? The internal JSON and sanitized public table disagree for some usernames, so unresolved values are marked To confirm.</a:t>
            </a:r>
          </a:p>
          <a:p>
            <a:pPr>
              <a:spcAft>
                <a:spcPts val="500"/>
              </a:spcAft>
              <a:defRPr sz="1400">
                <a:solidFill>
                  <a:srgbClr val="111827"/>
                </a:solidFill>
              </a:defRPr>
            </a:pPr>
            <a:r>
              <a:t>? Task allocation maps each member to a branch, contribution area, and deliverable.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0972800" cy="21945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</a:rPr>
              <a:t>SiteSpy Client Presentation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932688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08111F"/>
                </a:solidFill>
              </a:rPr>
              <a:t>Portfolio Update System</a:t>
            </a:r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84048"/>
            <a:ext cx="685800" cy="685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1188720"/>
            <a:ext cx="5212080" cy="18288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188720"/>
            <a:ext cx="64008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298448"/>
            <a:ext cx="4956048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08111F"/>
                </a:solidFill>
              </a:rPr>
              <a:t>What Exists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1627632"/>
            <a:ext cx="4956048" cy="1325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4B5563"/>
                </a:solidFill>
              </a:rPr>
              <a:t>Student collaboration, task ownership, branch names, Git workflow, final submission checklist, and portfolio deadline requirements are documented.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188720"/>
            <a:ext cx="5212080" cy="18288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188720"/>
            <a:ext cx="64008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298448"/>
            <a:ext cx="4956048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08111F"/>
                </a:solidFill>
              </a:rPr>
              <a:t>What Was Not 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1627632"/>
            <a:ext cx="4956048" cy="1325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4B5563"/>
                </a:solidFill>
              </a:rPr>
              <a:t>No standalone per-student portfolio folders were present in the current repository listing.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429000"/>
            <a:ext cx="512064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 b="1">
                <a:solidFill>
                  <a:srgbClr val="08111F"/>
                </a:solidFill>
              </a:rPr>
              <a:t>Continuation workflow: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767328"/>
            <a:ext cx="10789920" cy="1572768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111827"/>
                </a:solidFill>
              </a:rPr>
              <a:t>git fetch origin
git checkout main
git pull
npm install
npm run check
git checkout -b &lt;assigned-branch&gt;
git config user.name "&lt;student GitHub name&gt;"
git config user.email "&lt;student GitHub email&gt;"
git push -u origin &lt;assigned-branch&gt;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0972800" cy="21945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</a:rPr>
              <a:t>SiteSpy Client Presentation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932688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08111F"/>
                </a:solidFill>
              </a:rPr>
              <a:t>Member Work Breakdown</a:t>
            </a:r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84048"/>
            <a:ext cx="685800" cy="6858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078992"/>
          <a:ext cx="1110996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7490"/>
                <a:gridCol w="2777490"/>
                <a:gridCol w="2777490"/>
                <a:gridCol w="2777490"/>
              </a:tblGrid>
              <a:tr h="450668"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FFFFFF"/>
                          </a:solidFill>
                        </a:defRPr>
                      </a:pPr>
                      <a:r>
                        <a:t>Member(s)</a:t>
                      </a:r>
                    </a:p>
                  </a:txBody>
                  <a:tcPr marL="36576" marR="36576" marT="27432" marB="27432">
                    <a:solidFill>
                      <a:srgbClr val="0811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FFFFFF"/>
                          </a:solidFill>
                        </a:defRPr>
                      </a:pPr>
                      <a:r>
                        <a:t>Branch / Section</a:t>
                      </a:r>
                    </a:p>
                  </a:txBody>
                  <a:tcPr marL="36576" marR="36576" marT="27432" marB="27432">
                    <a:solidFill>
                      <a:srgbClr val="0811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FFFFFF"/>
                          </a:solidFill>
                        </a:defRPr>
                      </a:pPr>
                      <a:r>
                        <a:t>Contribution Area</a:t>
                      </a:r>
                    </a:p>
                  </a:txBody>
                  <a:tcPr marL="36576" marR="36576" marT="27432" marB="27432">
                    <a:solidFill>
                      <a:srgbClr val="0811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marL="36576" marR="36576" marT="27432" marB="27432">
                    <a:solidFill>
                      <a:srgbClr val="08111F"/>
                    </a:solidFill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11827"/>
                          </a:solidFill>
                        </a:defRPr>
                      </a:pPr>
                      <a:r>
                        <a:t>Kandere, Metarere, Nambuli, Jonas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11827"/>
                          </a:solidFill>
                        </a:defRPr>
                      </a:pPr>
                      <a:r>
                        <a:t>mobile/*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11827"/>
                          </a:solidFill>
                        </a:defRPr>
                      </a:pPr>
                      <a:r>
                        <a:t>Navigation, auth, dashboard, history/details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11827"/>
                          </a:solidFill>
                        </a:defRPr>
                      </a:pPr>
                      <a:r>
                        <a:t>Assigned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11827"/>
                          </a:solidFill>
                        </a:defRPr>
                      </a:pPr>
                      <a:r>
                        <a:t>Ndapuka, Mangundu, Kandjeke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11827"/>
                          </a:solidFill>
                        </a:defRPr>
                      </a:pPr>
                      <a:r>
                        <a:t>mobile/*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11827"/>
                          </a:solidFill>
                        </a:defRPr>
                      </a:pPr>
                      <a:r>
                        <a:t>Manual estimate, profile/settings, Android QA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11827"/>
                          </a:solidFill>
                        </a:defRPr>
                      </a:pPr>
                      <a:r>
                        <a:t>Assigned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11827"/>
                          </a:solidFill>
                        </a:defRPr>
                      </a:pPr>
                      <a:r>
                        <a:t>Shuumbwa, Hamukwaya, Hamberera, Matattias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11827"/>
                          </a:solidFill>
                        </a:defRPr>
                      </a:pPr>
                      <a:r>
                        <a:t>firebase/*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11827"/>
                          </a:solidFill>
                        </a:defRPr>
                      </a:pPr>
                      <a:r>
                        <a:t>Setup, auth review, Firestore model, release review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11827"/>
                          </a:solidFill>
                        </a:defRPr>
                      </a:pPr>
                      <a:r>
                        <a:t>Assigned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11827"/>
                          </a:solidFill>
                        </a:defRPr>
                      </a:pPr>
                      <a:r>
                        <a:t>Kambowe, Heita, Tjatindi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11827"/>
                          </a:solidFill>
                        </a:defRPr>
                      </a:pPr>
                      <a:r>
                        <a:t>firebase/*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11827"/>
                          </a:solidFill>
                        </a:defRPr>
                      </a:pPr>
                      <a:r>
                        <a:t>Project services, validation/errors, security rules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11827"/>
                          </a:solidFill>
                        </a:defRPr>
                      </a:pPr>
                      <a:r>
                        <a:t>Assigned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11827"/>
                          </a:solidFill>
                        </a:defRPr>
                      </a:pPr>
                      <a:r>
                        <a:t>Haipumbu, Correia, Iita, Shikongo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11827"/>
                          </a:solidFill>
                        </a:defRPr>
                      </a:pPr>
                      <a:r>
                        <a:t>firebase/*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11827"/>
                          </a:solidFill>
                        </a:defRPr>
                      </a:pPr>
                      <a:r>
                        <a:t>Estimation workflow, summary, checks, EAS deployment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11827"/>
                          </a:solidFill>
                        </a:defRPr>
                      </a:pPr>
                      <a:r>
                        <a:t>Assigned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50672"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11827"/>
                          </a:solidFill>
                        </a:defRPr>
                      </a:pPr>
                      <a:r>
                        <a:t>Unmatched details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11827"/>
                          </a:solidFill>
                        </a:defRPr>
                      </a:pPr>
                      <a:r>
                        <a:t>To confirm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11827"/>
                          </a:solidFill>
                        </a:defRPr>
                      </a:pPr>
                      <a:r>
                        <a:t>Nambuli collaborator JSON entry and older sanitized username differences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11827"/>
                          </a:solidFill>
                        </a:defRPr>
                      </a:pPr>
                      <a:r>
                        <a:t>To confirm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526280"/>
            <a:ext cx="10789920" cy="822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 b="0">
                <a:solidFill>
                  <a:srgbClr val="4B5563"/>
                </a:solidFill>
              </a:rPr>
              <a:t>Detailed member-by-member mapping is included in the markdown source. The slide keeps the table readable for presentation; use the source file for exact GitHub usernames and assigned branches.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972800" cy="21945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</a:rPr>
              <a:t>SiteSpy Client Presentation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932688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08111F"/>
                </a:solidFill>
              </a:rPr>
              <a:t>Key Features Implemented</a:t>
            </a:r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84048"/>
            <a:ext cx="685800" cy="685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143000"/>
            <a:ext cx="3429000" cy="1078992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143000"/>
            <a:ext cx="64008" cy="10789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252728"/>
            <a:ext cx="3172968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08111F"/>
                </a:solidFill>
              </a:rPr>
              <a:t>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81912"/>
            <a:ext cx="3172968" cy="57607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4B5563"/>
                </a:solidFill>
              </a:rPr>
              <a:t>Register, login, reset, passwordless email link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143000"/>
            <a:ext cx="3429000" cy="1078992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25696" y="1143000"/>
            <a:ext cx="64008" cy="10789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252728"/>
            <a:ext cx="3172968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08111F"/>
                </a:solidFill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581912"/>
            <a:ext cx="3172968" cy="57607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4B5563"/>
                </a:solidFill>
              </a:rPr>
              <a:t>Project and estimate metrics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84463" y="1143000"/>
            <a:ext cx="3429000" cy="1078992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84463" y="1143000"/>
            <a:ext cx="64008" cy="107899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7" y="1252728"/>
            <a:ext cx="3172968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08111F"/>
                </a:solidFill>
              </a:rPr>
              <a:t>Projects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7" y="1581912"/>
            <a:ext cx="3172968" cy="57607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4B5563"/>
                </a:solidFill>
              </a:rPr>
              <a:t>Create, list, view, edit, delete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642615"/>
            <a:ext cx="3429000" cy="1078992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2642615"/>
            <a:ext cx="64008" cy="10789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2752344"/>
            <a:ext cx="3172968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08111F"/>
                </a:solidFill>
              </a:rPr>
              <a:t>Manual Estimate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081527"/>
            <a:ext cx="3172968" cy="57607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4B5563"/>
                </a:solidFill>
              </a:rPr>
              <a:t>Wall area, units, mortar, labour, total cost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25696" y="2642615"/>
            <a:ext cx="3429000" cy="1078992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25696" y="2642615"/>
            <a:ext cx="64008" cy="10789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2752344"/>
            <a:ext cx="3172968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08111F"/>
                </a:solidFill>
              </a:rPr>
              <a:t>BOQ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081527"/>
            <a:ext cx="3172968" cy="57607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4B5563"/>
                </a:solidFill>
              </a:rPr>
              <a:t>Report-ready line items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84463" y="2642615"/>
            <a:ext cx="3429000" cy="1078992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84463" y="2642615"/>
            <a:ext cx="64008" cy="107899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0767" y="2752344"/>
            <a:ext cx="3172968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08111F"/>
                </a:solidFill>
              </a:rPr>
              <a:t>Image Records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7" y="3081527"/>
            <a:ext cx="3172968" cy="57607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4B5563"/>
                </a:solidFill>
              </a:rPr>
              <a:t>Gallery/camera image plus reference measurement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142231"/>
            <a:ext cx="3429000" cy="1078992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4142231"/>
            <a:ext cx="64008" cy="10789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4251959"/>
            <a:ext cx="3172968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08111F"/>
                </a:solidFill>
              </a:rPr>
              <a:t>Security Rules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4581144"/>
            <a:ext cx="3172968" cy="57607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4B5563"/>
                </a:solidFill>
              </a:rPr>
              <a:t>Owner-only Firestore and user-scoped Storage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25696" y="4142231"/>
            <a:ext cx="3429000" cy="1078992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25696" y="4142231"/>
            <a:ext cx="64008" cy="10789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4251959"/>
            <a:ext cx="3172968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08111F"/>
                </a:solidFill>
              </a:rPr>
              <a:t>Profile/Settings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581144"/>
            <a:ext cx="3172968" cy="57607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4B5563"/>
                </a:solidFill>
              </a:rPr>
              <a:t>Account details, preferences, logout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84463" y="4142231"/>
            <a:ext cx="3429000" cy="1078992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84463" y="4142231"/>
            <a:ext cx="64008" cy="107899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30767" y="4251959"/>
            <a:ext cx="3172968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08111F"/>
                </a:solidFill>
              </a:rPr>
              <a:t>Quality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0767" y="4581144"/>
            <a:ext cx="3172968" cy="57607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4B5563"/>
                </a:solidFill>
              </a:rPr>
              <a:t>Project check, testing checklist, Expo/EAS commands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73952"/>
            <a:ext cx="10972800" cy="21945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</a:rPr>
              <a:t>SiteSpy Client Presentation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932688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08111F"/>
                </a:solidFill>
              </a:rPr>
              <a:t>Screenshots / Demo Walkthrough</a:t>
            </a:r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84048"/>
            <a:ext cx="685800" cy="685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" y="1133856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261872"/>
            <a:ext cx="3026663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150" b="1">
                <a:solidFill>
                  <a:srgbClr val="08111F"/>
                </a:solidFill>
              </a:rPr>
              <a:t>Screenshot: 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636776"/>
            <a:ext cx="3026663" cy="1234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950" b="0">
                <a:solidFill>
                  <a:srgbClr val="4B5563"/>
                </a:solidFill>
              </a:rPr>
              <a:t>Email/password and sign-in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33856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261872"/>
            <a:ext cx="3026663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150" b="1">
                <a:solidFill>
                  <a:srgbClr val="08111F"/>
                </a:solidFill>
              </a:rPr>
              <a:t>Screenshot: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636776"/>
            <a:ext cx="3026663" cy="1234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950" b="0">
                <a:solidFill>
                  <a:srgbClr val="4B5563"/>
                </a:solidFill>
              </a:rPr>
              <a:t>Metrics and recent activity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133856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1261872"/>
            <a:ext cx="3026663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150" b="1">
                <a:solidFill>
                  <a:srgbClr val="08111F"/>
                </a:solidFill>
              </a:rPr>
              <a:t>Screenshot: Manual Estimate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1636776"/>
            <a:ext cx="3026663" cy="1234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950" b="0">
                <a:solidFill>
                  <a:srgbClr val="4B5563"/>
                </a:solidFill>
              </a:rPr>
              <a:t>Wall inputs and preview card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374136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502152"/>
            <a:ext cx="3026663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150" b="1">
                <a:solidFill>
                  <a:srgbClr val="08111F"/>
                </a:solidFill>
              </a:rPr>
              <a:t>Screenshot: Estimate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877056"/>
            <a:ext cx="3026663" cy="1234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950" b="0">
                <a:solidFill>
                  <a:srgbClr val="4B5563"/>
                </a:solidFill>
              </a:rPr>
              <a:t>BOQ-style line items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374136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3502152"/>
            <a:ext cx="3026663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150" b="1">
                <a:solidFill>
                  <a:srgbClr val="08111F"/>
                </a:solidFill>
              </a:rPr>
              <a:t>Screenshot: Image Estimate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3877056"/>
            <a:ext cx="3026663" cy="1234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950" b="0">
                <a:solidFill>
                  <a:srgbClr val="4B5563"/>
                </a:solidFill>
              </a:rPr>
              <a:t>Gallery/camera and reference measurement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3374136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3502152"/>
            <a:ext cx="3026663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150" b="1">
                <a:solidFill>
                  <a:srgbClr val="08111F"/>
                </a:solidFill>
              </a:rPr>
              <a:t>Screenshot: Project Details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3877056"/>
            <a:ext cx="3026663" cy="1234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950" b="0">
                <a:solidFill>
                  <a:srgbClr val="4B5563"/>
                </a:solidFill>
              </a:rPr>
              <a:t>Saved project, estimates, images, 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833872"/>
            <a:ext cx="107899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250" b="1">
                <a:solidFill>
                  <a:srgbClr val="08111F"/>
                </a:solidFill>
              </a:rPr>
              <a:t>Manual capture list created: docs/presentation-screenshot-checklist.md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10972800" cy="21945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</a:rPr>
              <a:t>SiteSpy Client Presentation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932688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08111F"/>
                </a:solidFill>
              </a:rPr>
              <a:t>Debugging and Quality Work Done</a:t>
            </a:r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84048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15568"/>
            <a:ext cx="5669280" cy="4206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111827"/>
                </a:solidFill>
              </a:defRPr>
            </a:pPr>
            <a:r>
              <a:t>? scripts/project-check.js verifies required files and blocks staged/tracked secrets or wrong-stack files.</a:t>
            </a:r>
          </a:p>
          <a:p>
            <a:pPr>
              <a:spcAft>
                <a:spcPts val="500"/>
              </a:spcAft>
              <a:defRPr sz="1350">
                <a:solidFill>
                  <a:srgbClr val="111827"/>
                </a:solidFill>
              </a:defRPr>
            </a:pPr>
            <a:r>
              <a:t>? Testing checklist covers local checks, auth, projects, estimates, images, and Android UI.</a:t>
            </a:r>
          </a:p>
          <a:p>
            <a:pPr>
              <a:spcAft>
                <a:spcPts val="500"/>
              </a:spcAft>
              <a:defRPr sz="1350">
                <a:solidFill>
                  <a:srgbClr val="111827"/>
                </a:solidFill>
              </a:defRPr>
            </a:pPr>
            <a:r>
              <a:t>? Final submission checklist tracks Firebase, rules, Expo Go, EAS, and branch readiness.</a:t>
            </a:r>
          </a:p>
          <a:p>
            <a:pPr>
              <a:spcAft>
                <a:spcPts val="500"/>
              </a:spcAft>
              <a:defRPr sz="1350">
                <a:solidFill>
                  <a:srgbClr val="111827"/>
                </a:solidFill>
              </a:defRPr>
            </a:pPr>
            <a:r>
              <a:t>? Crash logs exist before and after fixes.</a:t>
            </a:r>
          </a:p>
          <a:p>
            <a:pPr>
              <a:spcAft>
                <a:spcPts val="500"/>
              </a:spcAft>
              <a:defRPr sz="1350">
                <a:solidFill>
                  <a:srgbClr val="111827"/>
                </a:solidFill>
              </a:defRPr>
            </a:pPr>
            <a:r>
              <a:t>? Firestore and Storage rules restrict access to authenticated owners.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2280" y="1234440"/>
            <a:ext cx="4526280" cy="182880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txBody>
          <a:bodyPr wrap="square" lIns="73152" rIns="73152">
            <a:spAutoFit/>
          </a:bodyPr>
          <a:lstStyle/>
          <a:p>
            <a:r>
              <a:rPr sz="1600" b="1">
                <a:solidFill>
                  <a:srgbClr val="08111F"/>
                </a:solidFill>
              </a:rPr>
              <a:t>Quality commands
npm run check
npm run doctor
npm run export:android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3520440"/>
            <a:ext cx="4526280" cy="13716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12280" y="3520440"/>
            <a:ext cx="64008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58584" y="3630168"/>
            <a:ext cx="4270248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08111F"/>
                </a:solidFill>
              </a:rPr>
              <a:t>Remaining Configuration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8584" y="3959352"/>
            <a:ext cx="4270248" cy="868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4B5563"/>
                </a:solidFill>
              </a:rPr>
              <a:t>Add real Firebase .env values, deploy rules when Firebase CLI is configured, complete Expo Go and EAS preview APK tests.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0972800" cy="21945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</a:rPr>
              <a:t>SiteSpy Client Presentation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932688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700" b="1">
                <a:solidFill>
                  <a:srgbClr val="08111F"/>
                </a:solidFill>
              </a:rPr>
              <a:t>How to Run the Project</a:t>
            </a:r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84048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234440"/>
            <a:ext cx="3429000" cy="370332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txBody>
          <a:bodyPr wrap="square" lIns="73152" rIns="73152">
            <a:spAutoFit/>
          </a:bodyPr>
          <a:lstStyle/>
          <a:p>
            <a:r>
              <a:rPr sz="1350" b="0">
                <a:solidFill>
                  <a:srgbClr val="111827"/>
                </a:solidFill>
              </a:rPr>
              <a:t>Install and configure
npm install
cp .env.example .env
Fill EXPO_PUBLIC_FIREBASE_* values in .env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7992" y="1234440"/>
            <a:ext cx="3429000" cy="370332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txBody>
          <a:bodyPr wrap="square" lIns="73152" rIns="73152">
            <a:spAutoFit/>
          </a:bodyPr>
          <a:lstStyle/>
          <a:p>
            <a:r>
              <a:rPr sz="1350" b="0">
                <a:solidFill>
                  <a:srgbClr val="111827"/>
                </a:solidFill>
              </a:rPr>
              <a:t>Run locally
npm start
npm run android
Scan QR with Expo Go on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30183" y="1234440"/>
            <a:ext cx="3429000" cy="370332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txBody>
          <a:bodyPr wrap="square" lIns="73152" rIns="73152">
            <a:spAutoFit/>
          </a:bodyPr>
          <a:lstStyle/>
          <a:p>
            <a:r>
              <a:rPr sz="1350" b="0">
                <a:solidFill>
                  <a:srgbClr val="111827"/>
                </a:solidFill>
              </a:rPr>
              <a:t>Check and build
npm run check
npm run doctor
npm run export:android
eas login
npm run build:apk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504688"/>
            <a:ext cx="1078992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08111F"/>
                </a:solidFill>
              </a:rPr>
              <a:t>Firebase deploy when configured: firebase deploy --only firestore:rules,firestore:indexes,storage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10972800" cy="21945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</a:rPr>
              <a:t>SiteSpy Client Presentation |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